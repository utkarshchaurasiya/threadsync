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ThreadSync project demonstration. This application simulates Java multithreading concepts interactively.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tip: The problem is concurrent access to shared mutable state. synchronized keyword uses a monitor lock to serialize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viva: Difference between start() and run(). Calling run() directly executes on the CURRENT thread — no new thread is created. start() creates a new OS thread that calls run().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viva: A monitor is a per-object mutual exclusion mechanism. synchronized(obj) acquires obj's monitor. wait() and notifyAll() must be called within synchronized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Viva: Thread.MIN_PRIORITY=1, NORM_PRIORITY=5, MAX_PRIORITY=10. setPriority() is a hint. The OS scheduler makes the final decision. On Linux, Java priorities map to nice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diagram: ThreadSyncApp creates WorkerThread instances and submits them to an ExecutorService. Workers call SharedCounter methods. UI updates via EDT.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Click "Start (Synchronized)" first, observe counter reaches exactly 200. Then Reset and click "Start (Unsynchronized)" — observe counter frequently shows less than 200 due to race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Viva: Race conditions are non-deterministic which is why they are hard to catch in testing. This is why proper synchronization is essential,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future scope shows project potential. Deadlock is the most interesting extension — it requires circular wait between synchronized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presentation with a live demo. Run both synchronized and unsynchronized modes to show the difference. Be ready to answer questions about synchronized, wait/notify, and why Thread.stop() is deprecated.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2188952" cy="2743200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194560"/>
            <a:ext cx="109728" cy="2743200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ThreadSync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186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Synchronization &amp; Thread Priority Simulator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Multithreading Project  |  B.Tech CSE  |  2024–25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187952"/>
            <a:ext cx="73152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3159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|  [Roll No]  |  [Department]  |  Guide: [Prof.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Objectives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multithreading need synchronization?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303520" cy="228600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45720" cy="22860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3350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45920"/>
            <a:ext cx="502920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require concurrent task execution. Without proper synchronization, shared data becomes corrupted — multiple threads can read-modify-write a counter simultaneously, each overwriting the other's result.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lost updates, inconsistent state, and hard-to-debug bugs.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5468112" cy="228600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280160"/>
            <a:ext cx="45720" cy="2286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335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6642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Simulate concurrent thread execution visually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95681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Demonstrate race condition in real time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24942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Prove synchronized() prevents lost updates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4203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Show thread priority (1–10) scheduling hint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8346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Implement safe cooperative thread cancellation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12724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Build a viva-ready interactive demonstration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1274552" cy="265176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45720" cy="2651760"/>
          </a:xfrm>
          <a:prstGeom prst="rect">
            <a:avLst/>
          </a:prstGeom>
          <a:solidFill>
            <a:srgbClr val="FBB7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80390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Answered by this Project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11480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4 threads each increment a counter 50 times without synchronization?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Final count is often LESS than 200 — some increments are lost due to the race condition.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synchronized, the final count is ALWAYS exactly 200. This project demonstrates and explains why.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Introduction to Threads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 of concurrent Java programs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384048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45720" cy="3840480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335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Thread?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4592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is the smallest unit of execution scheduled by the CPU. Multiple threads within the same process share: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Heap memory (objects)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Static variables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Open file handles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each thread has its own: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Stack (local variables)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Program counter (current instruction)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Thread state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6908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Thread in Java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315968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extends Thread { run() {...}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implements Runnable { run() {...}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ExecutorService (preferred for pools)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5468112" cy="384048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280160"/>
            <a:ext cx="45720" cy="3840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335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Lifecycle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700784"/>
            <a:ext cx="5193792" cy="420624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17556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1755648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created but start() not called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212848"/>
            <a:ext cx="5193792" cy="420624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22677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2267712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 / currently running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724912"/>
            <a:ext cx="5193792" cy="420624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3952" y="27797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73568" y="2779776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to acquire a monitor lock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236976"/>
            <a:ext cx="5193792" cy="420624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73952" y="3291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973568" y="3291840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indefinitely for notify()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749040"/>
            <a:ext cx="5193792" cy="420624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73952" y="38039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TIMED_WAITING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973568" y="3803904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with timeout (sleep/join)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4261104"/>
            <a:ext cx="5193792" cy="420624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73952" y="43159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973568" y="4315968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has finished executing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Thread Synchronization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concurrent access to shared resources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409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00" cy="475488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45720" cy="4754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335024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synchronized Keyword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459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uses each object's monitor lock. Only ONE thread can hold a monitor at a time. Others BLOCK until it is released.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139696"/>
            <a:ext cx="6949440" cy="1389888"/>
          </a:xfrm>
          <a:prstGeom prst="rect">
            <a:avLst/>
          </a:prstGeom>
          <a:solidFill>
            <a:srgbClr val="050A18"/>
          </a:solidFill>
          <a:ln w="12700">
            <a:solidFill>
              <a:srgbClr val="203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2194560"/>
            <a:ext cx="682142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B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sync — race condition: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SharedCounter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int count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increment()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  // NOT atomic! read → modify → write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6949440" cy="1444752"/>
          </a:xfrm>
          <a:prstGeom prst="rect">
            <a:avLst/>
          </a:prstGeom>
          <a:solidFill>
            <a:srgbClr val="050A18"/>
          </a:solidFill>
          <a:ln w="12700">
            <a:solidFill>
              <a:srgbClr val="2030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3621024"/>
            <a:ext cx="682142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sync — thread safe: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SharedCounter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int count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synchronized void increment()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  // Only 1 thread at a time. Safe!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280160"/>
            <a:ext cx="3639312" cy="475488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280160"/>
            <a:ext cx="45720" cy="4754880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13350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&amp; notifyAll()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164592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synchronized block: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Thread releases the 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enters WAITING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until another thread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notify() or notifyAll()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Wakes ALL threads waiting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this object's monitor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Wakes ONE waiting thread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(non-deterministic which)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Always call wait()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inside a while()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handle spurious wakeups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72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BB7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Thread Priority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scheduling hint — not a guarantee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FBB7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/>
          </a:prstGeom>
          <a:solidFill>
            <a:srgbClr val="1621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898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231136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MIN_PRIORITY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542032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housekeeping tasks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017520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3346704"/>
            <a:ext cx="3145536" cy="164592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346704"/>
            <a:ext cx="314554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280160"/>
            <a:ext cx="3657600" cy="3200400"/>
          </a:xfrm>
          <a:prstGeom prst="rect">
            <a:avLst/>
          </a:prstGeom>
          <a:solidFill>
            <a:srgbClr val="16213A"/>
          </a:solidFill>
          <a:ln w="12700">
            <a:solidFill>
              <a:srgbClr val="409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3898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2231136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NORM_PRIORITY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2542032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all new threads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017520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53712" y="3346704"/>
            <a:ext cx="3145536" cy="164592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53712" y="3346704"/>
            <a:ext cx="1572768" cy="164592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321040" y="1280160"/>
            <a:ext cx="3657600" cy="3200400"/>
          </a:xfrm>
          <a:prstGeom prst="rect">
            <a:avLst/>
          </a:prstGeom>
          <a:solidFill>
            <a:srgbClr val="1621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13898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24" name="Text 22"/>
          <p:cNvSpPr txBox="1"/>
          <p:nvPr/>
        </p:nvSpPr>
        <p:spPr>
          <a:xfrm>
            <a:off x="8485632" y="2231136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MAX_PRIORITY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85632" y="2542032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Time-critical / urgent operations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85632" y="3017520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85632" y="3346704"/>
            <a:ext cx="3145536" cy="164592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28" name="Shape 26"/>
          <p:cNvSpPr/>
          <p:nvPr/>
        </p:nvSpPr>
        <p:spPr>
          <a:xfrm>
            <a:off x="8485632" y="3346704"/>
            <a:ext cx="3145536" cy="1645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617720"/>
            <a:ext cx="11274552" cy="16459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617720"/>
            <a:ext cx="45720" cy="1645920"/>
          </a:xfrm>
          <a:prstGeom prst="rect">
            <a:avLst/>
          </a:prstGeom>
          <a:solidFill>
            <a:srgbClr val="FBB7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4681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Critical Point for Viva: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974336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priority is a HINT to the JVM/OS scheduler — it does NOT guarantee execution order!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lower-priority thread can still run before a higher-priority one, especially on multi-core systems.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JVM maps Java thread priorities to native OS thread priorities, which vary by platform.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sets priorities via thread.setPriority(n) and displays them in the monitor table for observation.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System Architecture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 and component interaction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371600"/>
            <a:ext cx="3017520" cy="822960"/>
          </a:xfrm>
          <a:prstGeom prst="rect">
            <a:avLst/>
          </a:prstGeom>
          <a:solidFill>
            <a:srgbClr val="16213A"/>
          </a:solidFill>
          <a:ln w="12700">
            <a:solidFill>
              <a:srgbClr val="409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444752"/>
            <a:ext cx="2798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ThreadSyncApp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(extends JFrame)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017520" cy="822960"/>
          </a:xfrm>
          <a:prstGeom prst="rect">
            <a:avLst/>
          </a:prstGeom>
          <a:solidFill>
            <a:srgbClr val="1621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3547872"/>
            <a:ext cx="2798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WorkerThread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(extends Thread)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3017520" cy="822960"/>
          </a:xfrm>
          <a:prstGeom prst="rect">
            <a:avLst/>
          </a:prstGeom>
          <a:solidFill>
            <a:srgbClr val="1621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3547872"/>
            <a:ext cx="2798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SharedCounter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(synchronized)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5360" y="3474720"/>
            <a:ext cx="3017520" cy="822960"/>
          </a:xfrm>
          <a:prstGeom prst="rect">
            <a:avLst/>
          </a:prstGeom>
          <a:solidFill>
            <a:srgbClr val="1621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05088" y="3547872"/>
            <a:ext cx="2798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(thread pool)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194560"/>
            <a:ext cx="0" cy="128016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194560"/>
            <a:ext cx="0" cy="128016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194560"/>
            <a:ext cx="-3840480" cy="128016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194560"/>
            <a:ext cx="3840480" cy="128016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5720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Start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773936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090672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ThreadSyncApp creates WorkerThreads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run via ExecutorService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calls SharedCounter.increment()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74352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91088" y="48920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updated via SwingUtilities.invokeLater()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303520"/>
            <a:ext cx="11274552" cy="128016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303520"/>
            <a:ext cx="45720" cy="1280160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53583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 Pattern in SharedCounter: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6509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synchronized void incrementSafe() { count++; }    ← Atomic: only 1 thread at a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void incrementUnsafe() { int t=count; sleep(0,1); count=t+1; }  ← Race: 2 threads may read same value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Application Interface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interactive demonstration tool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409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1274552" cy="43891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45720" cy="4389120"/>
          </a:xfrm>
          <a:prstGeom prst="rect">
            <a:avLst/>
          </a:prstGeom>
          <a:solidFill>
            <a:srgbClr val="409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Application Screenshot — Run the app and take a screenshot for this slide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920240"/>
            <a:ext cx="5029200" cy="658368"/>
          </a:xfrm>
          <a:prstGeom prst="rect">
            <a:avLst/>
          </a:prstGeom>
          <a:solidFill>
            <a:srgbClr val="16213A"/>
          </a:solidFill>
          <a:ln w="12700">
            <a:solidFill>
              <a:srgbClr val="409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97510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Stats Cards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2311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Completed / Pending / Workers / Status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926080"/>
            <a:ext cx="5029200" cy="658368"/>
          </a:xfrm>
          <a:prstGeom prst="rect">
            <a:avLst/>
          </a:prstGeom>
          <a:solidFill>
            <a:srgbClr val="1621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9809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Config Panel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369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worker count (1–10) and tasks per worker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5029200" cy="658368"/>
          </a:xfrm>
          <a:prstGeom prst="rect">
            <a:avLst/>
          </a:prstGeom>
          <a:solidFill>
            <a:srgbClr val="1621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98678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Counter Panel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2428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sync vs unsync counter values live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1920240"/>
            <a:ext cx="5029200" cy="658368"/>
          </a:xfrm>
          <a:prstGeom prst="rect">
            <a:avLst/>
          </a:prstGeom>
          <a:solidFill>
            <a:srgbClr val="16213A"/>
          </a:solidFill>
          <a:ln w="12700">
            <a:solidFill>
              <a:srgbClr val="FBB7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97510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Thread Table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2311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Per-thread: Name, ID, Priority, State, Progress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926080"/>
            <a:ext cx="5029200" cy="658368"/>
          </a:xfrm>
          <a:prstGeom prst="rect">
            <a:avLst/>
          </a:prstGeom>
          <a:solidFill>
            <a:srgbClr val="1621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29809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Event Log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2369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log of all lifecycle events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3931920"/>
            <a:ext cx="5029200" cy="658368"/>
          </a:xfrm>
          <a:prstGeom prst="rect">
            <a:avLst/>
          </a:prstGeom>
          <a:solidFill>
            <a:srgbClr val="1621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398678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Controls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2428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Sync / Start Unsync / Stop / Reset buttons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Testing &amp; Results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 from actual test runs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98448"/>
            <a:ext cx="3108960" cy="347472"/>
          </a:xfrm>
          <a:prstGeom prst="rect">
            <a:avLst/>
          </a:prstGeom>
          <a:solidFill>
            <a:srgbClr val="34D399">
              <a:alpha val="27000"/>
            </a:srgbClr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325880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298448"/>
            <a:ext cx="1005840" cy="347472"/>
          </a:xfrm>
          <a:prstGeom prst="rect">
            <a:avLst/>
          </a:prstGeom>
          <a:solidFill>
            <a:srgbClr val="34D399">
              <a:alpha val="27000"/>
            </a:srgbClr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132588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98448"/>
            <a:ext cx="1188720" cy="347472"/>
          </a:xfrm>
          <a:prstGeom prst="rect">
            <a:avLst/>
          </a:prstGeom>
          <a:solidFill>
            <a:srgbClr val="34D399">
              <a:alpha val="27000"/>
            </a:srgbClr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132588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Tasks/Worker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298448"/>
            <a:ext cx="1097280" cy="347472"/>
          </a:xfrm>
          <a:prstGeom prst="rect">
            <a:avLst/>
          </a:prstGeom>
          <a:solidFill>
            <a:srgbClr val="34D399">
              <a:alpha val="27000"/>
            </a:srgbClr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15584" y="13258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298448"/>
            <a:ext cx="1463040" cy="347472"/>
          </a:xfrm>
          <a:prstGeom prst="rect">
            <a:avLst/>
          </a:prstGeom>
          <a:solidFill>
            <a:srgbClr val="34D399">
              <a:alpha val="27000"/>
            </a:srgbClr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12864" y="132588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Result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298448"/>
            <a:ext cx="1581912" cy="347472"/>
          </a:xfrm>
          <a:prstGeom prst="rect">
            <a:avLst/>
          </a:prstGeom>
          <a:solidFill>
            <a:srgbClr val="34D399">
              <a:alpha val="27000"/>
            </a:srgbClr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75904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Unsync 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682496"/>
            <a:ext cx="310896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" y="171907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increment race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1682496"/>
            <a:ext cx="100584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21024" y="171907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682496"/>
            <a:ext cx="118872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26864" y="17190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682496"/>
            <a:ext cx="109728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15584" y="1719072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682496"/>
            <a:ext cx="146304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12864" y="171907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1682496"/>
            <a:ext cx="1581912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75904" y="17190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173–199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084832"/>
            <a:ext cx="310896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" y="212140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concurrency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2084832"/>
            <a:ext cx="100584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21024" y="212140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2084832"/>
            <a:ext cx="118872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26864" y="212140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2084832"/>
            <a:ext cx="109728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15584" y="21214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0" y="2084832"/>
            <a:ext cx="146304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12864" y="212140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21040" y="2084832"/>
            <a:ext cx="1581912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75904" y="21214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310–395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2487168"/>
            <a:ext cx="310896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2064" y="2523744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thread (baseline)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66160" y="2487168"/>
            <a:ext cx="100584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21024" y="252374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2487168"/>
            <a:ext cx="118872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626864" y="25237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60720" y="2487168"/>
            <a:ext cx="109728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815584" y="2523744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58000" y="2487168"/>
            <a:ext cx="146304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12864" y="2523744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21040" y="2487168"/>
            <a:ext cx="1581912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75904" y="25237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 (no race)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2889504"/>
            <a:ext cx="310896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12064" y="2926080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workers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566160" y="2889504"/>
            <a:ext cx="100584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621024" y="292608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0" y="2889504"/>
            <a:ext cx="118872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26864" y="292608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60720" y="2889504"/>
            <a:ext cx="109728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815584" y="29260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58000" y="2889504"/>
            <a:ext cx="1463040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912864" y="292608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321040" y="2889504"/>
            <a:ext cx="1581912" cy="347472"/>
          </a:xfrm>
          <a:prstGeom prst="rect">
            <a:avLst/>
          </a:prstGeom>
          <a:solidFill>
            <a:srgbClr val="1A2745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375904" y="2926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varies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3291840"/>
            <a:ext cx="310896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12064" y="3328416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P10 vs P1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566160" y="3291840"/>
            <a:ext cx="100584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621024" y="332841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0" y="3291840"/>
            <a:ext cx="118872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626864" y="3328416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760720" y="3291840"/>
            <a:ext cx="109728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815584" y="3328416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858000" y="3291840"/>
            <a:ext cx="1463040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912864" y="3328416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complete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321040" y="3291840"/>
            <a:ext cx="1581912" cy="347472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375904" y="33284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faster*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457200" y="37673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Priority scheduling is non-deterministic. Results may vary between runs.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" y="4114800"/>
            <a:ext cx="11274552" cy="201168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7200" y="4114800"/>
            <a:ext cx="45720" cy="2011680"/>
          </a:xfrm>
          <a:prstGeom prst="rect">
            <a:avLst/>
          </a:prstGeom>
          <a:solidFill>
            <a:srgbClr val="FBB724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594360" y="416966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Key Observations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594360" y="44805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Synchronized counter ALWAYS matches the expected value — zero lost updates.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Unsynchronized counter FREQUENTLY shows values below expected — confirming race conditions cause lost updates.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Race condition results are NON-DETERMINISTIC — they vary between runs, making them hard to reproduce in testing.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Thread priority hint is observable but not strictly enforced — higher-priority threads tend to complete sooner.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Limitations &amp; 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00" cy="475488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45720" cy="47548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335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Current Limitations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64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Thread priority scheduling is JVM/OS-dependent and non-deterministic — cannot guarantee observed order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1579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At very high thread counts (&gt;50), Swing UI may feel less responsive due to EDT update queue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Unsync race condition may not always appear at low task counts — depends on OS thread scheduling timing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1455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database storage — results are runtime-only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6393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Single-machine simulation — no distributed thread scenarios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1330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Sleep-based work simulation may not accurately reflect real CPU-bound task behavior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5468112" cy="475488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280160"/>
            <a:ext cx="45720" cy="4754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1335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Enhancements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6642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Deadlock simulation and visual detection (circular wait)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1579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ReentrantLock vs synchronized benchmark comparison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651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Producer-Consumer pattern with BlockingQueue visualization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1455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Thread pool sizing advisor with optimal worker calculation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63931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StampedLock and ReadWriteLock demonstrations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1330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 task simulation (image processing, sorting algorithms)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62686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 simulation results to CSV / PDF report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Conclusion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ThreadSync demonstrates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7455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98448"/>
            <a:ext cx="11274552" cy="859536"/>
          </a:xfrm>
          <a:prstGeom prst="rect">
            <a:avLst/>
          </a:prstGeom>
          <a:solidFill>
            <a:srgbClr val="1621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996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Works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1682496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synchronized counter always produces the correct final value — mutual exclusion prevents all lost updates.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11274552" cy="859536"/>
          </a:xfrm>
          <a:prstGeom prst="rect">
            <a:avLst/>
          </a:prstGeom>
          <a:solidFill>
            <a:srgbClr val="1621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340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Are Real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2651760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unsynchronized counter reliably shows values below expected — proving that race conditions cause data corruption.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11274552" cy="859536"/>
          </a:xfrm>
          <a:prstGeom prst="rect">
            <a:avLst/>
          </a:prstGeom>
          <a:solidFill>
            <a:srgbClr val="16213A"/>
          </a:solidFill>
          <a:ln w="12700">
            <a:solidFill>
              <a:srgbClr val="FBB7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4381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3310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a Hint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62102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Thread.setPriority() influences scheduling tendency but does NOT guarantee execution order across JVMs or platforms.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11274552" cy="859536"/>
          </a:xfrm>
          <a:prstGeom prst="rect">
            <a:avLst/>
          </a:prstGeom>
          <a:solidFill>
            <a:srgbClr val="16213A"/>
          </a:solidFill>
          <a:ln w="12700">
            <a:solidFill>
              <a:srgbClr val="409C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4074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42793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Cancellation Matters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4590288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volatile boolean flag + thread.interrupt() is the correct way to stop threads without Thread.stop().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175504"/>
            <a:ext cx="11274552" cy="859536"/>
          </a:xfrm>
          <a:prstGeom prst="rect">
            <a:avLst/>
          </a:prstGeom>
          <a:solidFill>
            <a:srgbClr val="1621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376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52486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Compliance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555955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all Swing UI updates on the Event Dispatch Thread is essential for responsive, glitch-free desktop GUIs.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82880" y="653796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ThreadSync  |  Java Multithreading Project  |  [College Name]  |  B.Tech CSE  |  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2026-10-23T06:59:09Z</dcterms:created>
  <dcterms:modified xsi:type="dcterms:W3CDTF">2026-10-23T06:59:09Z</dcterms:modified>
</cp:coreProperties>
</file>