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19604" cy="21384158"/>
  <p:notesSz cx="21384158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19604" cy="2138415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4388084" cy="178308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20040"/>
            <a:ext cx="14388084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521208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ThreadSync: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Java Multithreading &amp; Thread Priority Simulator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BD5E1"/>
                </a:solidFill>
              </a:rPr>
              <a:t>Visualizing Race Conditions, Critical Section Monitor Locks &amp; Thread Scheduling Dynamics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CORE JAVA (SE 21)   </a:t>
            </a:r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•   SWING GUI ARCHITECTURE   •   VIVA-READY LIVE DEMONSTRATION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0" y="521208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95560" y="594360"/>
          <a:ext cx="4023360" cy="1225296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</a:tblGrid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Full Name:</a:t>
                      </a:r>
                      <a:endParaRPr lang="en-US" sz="1100" dirty="0"/>
                    </a:p>
                  </a:txBody>
                  <a:tcPr marL="25400" marR="254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 [Your Full Name]</a:t>
                      </a:r>
                      <a:endParaRPr lang="en-US" sz="1150" dirty="0"/>
                    </a:p>
                  </a:txBody>
                  <a:tcPr marL="25400" marR="254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Enrollment No:</a:t>
                      </a:r>
                      <a:endParaRPr lang="en-US" sz="1100" dirty="0"/>
                    </a:p>
                  </a:txBody>
                  <a:tcPr marL="25400" marR="254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8BDF8"/>
                          </a:solidFill>
                        </a:rPr>
                        <a:t> [Enrollment Number / ID]</a:t>
                      </a:r>
                      <a:endParaRPr lang="en-US" sz="1150" dirty="0"/>
                    </a:p>
                  </a:txBody>
                  <a:tcPr marL="25400" marR="254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Division / Branch:</a:t>
                      </a:r>
                      <a:endParaRPr lang="en-US" sz="1100" dirty="0"/>
                    </a:p>
                  </a:txBody>
                  <a:tcPr marL="25400" marR="254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 [B.Tech CSE - Div A / Year 3]</a:t>
                      </a:r>
                      <a:endParaRPr lang="en-US" sz="1100" dirty="0"/>
                    </a:p>
                  </a:txBody>
                  <a:tcPr marL="25400" marR="254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Faculty Guide:</a:t>
                      </a:r>
                      <a:endParaRPr lang="en-US" sz="1100" dirty="0"/>
                    </a:p>
                  </a:txBody>
                  <a:tcPr marL="25400" marR="254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 [Prof. Name, Designation]</a:t>
                      </a:r>
                      <a:endParaRPr lang="en-US" sz="1100" dirty="0"/>
                    </a:p>
                  </a:txBody>
                  <a:tcPr marL="25400" marR="254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Institution / Dept:</a:t>
                      </a:r>
                      <a:endParaRPr lang="en-US" sz="1100" dirty="0"/>
                    </a:p>
                  </a:txBody>
                  <a:tcPr marL="25400" marR="254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</a:rPr>
                        <a:t> [Department of Computer Engineering]</a:t>
                      </a:r>
                      <a:endParaRPr lang="en-US" sz="1050" dirty="0"/>
                    </a:p>
                  </a:txBody>
                  <a:tcPr marL="25400" marR="254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2286000"/>
            <a:ext cx="4480560" cy="58978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64748B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2286000"/>
            <a:ext cx="43891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42316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4231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⚠️  PROBLEM STATEMENT &amp; RACE CONDITIONS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907792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The Concurrency Challenge in Multi-Core Systems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Modern applications rely on multithreading to maximize CPU core utilization. However, when multiple threads concurrently mutate shared data without synchronization, catastrophic 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race conditions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 occur, resulting in lost data updates and corrupt application state.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Why count++ Fails (Read-Modify-Write Window):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 Java, an increment operation (count++) is NOT atomic. It decomposes into three distinct bytecode CPU operations:
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4114800" cy="2057400"/>
          </a:xfrm>
          <a:prstGeom prst="roundRect">
            <a:avLst>
              <a:gd name="adj" fmla="val 3556"/>
            </a:avLst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572000"/>
          <a:ext cx="4023360" cy="187452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1371600"/>
                <a:gridCol w="82296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</a:rPr>
                        <a:t>Step</a:t>
                      </a:r>
                      <a:endParaRPr lang="en-US" sz="10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Thread 1 (Worker-A)</a:t>
                      </a:r>
                      <a:endParaRPr lang="en-US" sz="10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Thread 2 (Worker-B)</a:t>
                      </a:r>
                      <a:endParaRPr lang="en-US" sz="10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</a:rPr>
                        <a:t>Shared count</a:t>
                      </a:r>
                      <a:endParaRPr lang="en-US" sz="10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</a:rPr>
                        <a:t>T1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Reads count (reads 5)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Idle / waiting for CPU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count = 5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</a:rPr>
                        <a:t>T2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Context switch...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Reads count (reads 5!)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count = 5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</a:rPr>
                        <a:t>T3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Computes 5+1, writes 6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Context switch...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count = 6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</a:rPr>
                        <a:t>T4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Finished step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Computes 5+1, writes 6!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count = 6 ❌</a:t>
                      </a:r>
                      <a:endParaRPr lang="en-US" sz="10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548640" y="662940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Critical Section Vulnerability:
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Two increments occurred, but the counter only increased by 1 (one update was permanently lost).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In real-world banking, reservations, or inventory systems, this causes balance discrepancies and data corruption.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ThreadSync visually exposes this exact vulnerability in real time.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8412480"/>
            <a:ext cx="4480560" cy="58978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64748B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1480" y="8412480"/>
            <a:ext cx="438912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02920" y="85496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4360" y="8549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🎯  PROJECT OBJECTIVES &amp; SCOPE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9052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8640" y="9052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01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43000" y="900684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Configurable Multi-Thread Simulation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Instantiate 1 to 10 concurrent worker threads running 10 to 200 tasks each on JVM thread pool.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9893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48640" y="9893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02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143000" y="984808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Real-Time Race Condition Exposure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Demonstrate empirical lost updates using an unsynchronized shared memory counter under load.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48640" y="1073505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10735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03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43000" y="1068933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Intrinsic Monitor Lock Verification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Prove that the synchronized keyword enforces strict mutual exclusion (counter always reaches 100% expected).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48640" y="1157630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48640" y="11576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04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143000" y="1153058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Thread Priority (1-10) Dynamics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Evaluate Thread.setPriority() effects and prove to the viva panel that priority is a scheduling hint, not an ordering guarantee.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48640" y="124175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48640" y="1241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05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1143000" y="12371832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Safe Cooperative Cancellation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Implement clean shutdown via volatile boolean running flags and thread.interrupt() rather than deprecated Thread.stop().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548640" y="1325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48640" y="1325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06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1143000" y="1321308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Event Dispatch Thread (EDT) Safety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Enforce thread-safe Swing UI updates exclusively via SwingUtilities.invokeLater() to avoid visual tearing.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365760" y="14538960"/>
            <a:ext cx="4480560" cy="65379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64748B">
                <a:alpha val="15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411480" y="14538960"/>
            <a:ext cx="43891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02920" y="1467612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94360" y="14676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⚙️  TECH STACK &amp; IMPLEMENTATION SPECS</a:t>
            </a:r>
            <a:endParaRPr lang="en-US" sz="13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160752"/>
          <a:ext cx="4114800" cy="333756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</a:tblGrid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</a:rPr>
                        <a:t>Technology Layer</a:t>
                      </a:r>
                      <a:endParaRPr lang="en-US" sz="11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Component &amp; Role in ThreadSync</a:t>
                      </a:r>
                      <a:endParaRPr lang="en-US" sz="11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Core Runtime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Java SE 21 (LTS) / OpenJDK HotSpot 64-Bit Server VM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GUI Toolkit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Java Swing (JFrame, JTable, JProgressBar, Custom LookAndFeel)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Concurrency Model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java.lang.Thread, Runnable, volatile variables, ThreadGroup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Synchronization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Intrinsic Object Monitor Locks (synchronized method / wait / notifyAll)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Executors &amp; Pool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java.util.concurrent.ExecutorService &amp; ThreadPoolExecutor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Atomic Primitives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java.util.concurrent.atomic.AtomicInteger (lock-free stat counters)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UI Thread Safety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javax.swing.SwingUtilities.invokeLater() for EDT event dispatch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Tooling &amp; OS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Visual Studio Code, Git, Windows 11 / Linux POSIX compliance</a:t>
                      </a:r>
                      <a:endParaRPr lang="en-US" sz="1000" dirty="0"/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Text 40"/>
          <p:cNvSpPr/>
          <p:nvPr/>
        </p:nvSpPr>
        <p:spPr>
          <a:xfrm>
            <a:off x="548640" y="18653760"/>
            <a:ext cx="4114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Hardware Requirements &amp; Testing Platform: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Minimum: Dual-Core CPU (2.0 GHz), 4 GB RAM, 250 MB Disk.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Recommended: Quad-Core or Octa-Core CPU (enables true multi-core parallel execution and reveals priority scheduling non-determinism).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• Zero External Dependencies: Pure Core Java SDK — runs out of the box on any system with Java installed.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5319065" y="2286000"/>
            <a:ext cx="4480560" cy="58978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64748B">
                <a:alpha val="15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5364785" y="2286000"/>
            <a:ext cx="438912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5456225" y="242316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547665" y="24231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📐  UML ARCHITECTURE &amp; CLASS DIAGRAM</a:t>
            </a:r>
            <a:endParaRPr lang="en-US" sz="1300" dirty="0"/>
          </a:p>
        </p:txBody>
      </p:sp>
      <p:pic>
        <p:nvPicPr>
          <p:cNvPr id="50" name="Image 0" descr="C:\Users\Hp\OneDrive\Documents\java files\diagram_u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945" y="2907792"/>
            <a:ext cx="4114800" cy="333756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501945" y="6355080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Object-Oriented Design &amp; Inheritance Hierarchy:
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•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ThreadSyncApp extends JFrame: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Main GUI controller managing active worker threads, event dispatching, and live dashboard table.
</a:t>
            </a:r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•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WorkerThread extends Thread: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Encapsulates task execution loops, cooperative cancellation (volatile running flag), and callback progress updates.
</a:t>
            </a:r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•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SharedCounter: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Shared resource maintaining count variable with synchronized vs unsynchronized increment methods.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5319065" y="8412480"/>
            <a:ext cx="4480560" cy="58978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64748B">
                <a:alpha val="15000"/>
              </a:srgbClr>
            </a:outerShdw>
          </a:effectLst>
        </p:spPr>
      </p:sp>
      <p:sp>
        <p:nvSpPr>
          <p:cNvPr id="53" name="Shape 47"/>
          <p:cNvSpPr/>
          <p:nvPr/>
        </p:nvSpPr>
        <p:spPr>
          <a:xfrm>
            <a:off x="5364785" y="8412480"/>
            <a:ext cx="438912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5456225" y="85496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5547665" y="8549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🔄  SYSTEM DATA FLOW &amp; CONCURRENCY PIPELINE</a:t>
            </a:r>
            <a:endParaRPr lang="en-US" sz="1300" dirty="0"/>
          </a:p>
        </p:txBody>
      </p:sp>
      <p:pic>
        <p:nvPicPr>
          <p:cNvPr id="56" name="Image 1" descr="C:\Users\Hp\OneDrive\Documents\java files\diagram_data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945" y="9034272"/>
            <a:ext cx="4114800" cy="3246120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5501945" y="12390120"/>
            <a:ext cx="411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End-to-End Concurrency Execution Flow: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1. Parameter Ingestion: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User specifies worker pool count (1-10), task workload, and thread priority via UI controls.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2. Concurrent Dispatch: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Threads are dispatched to OS CPU cores with Thread.setPriority() scheduling hints.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3. Monitor Lock vs Data Race: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Synchronized branch locks object monitor; unsynchronized branch interleaves read-modify-write.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4. EDT Safe Rendering: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Worker threads queue UI mutation events into Event Dispatch Thread for atomic visual rendering.</a:t>
            </a:r>
            <a:endParaRPr lang="en-US" sz="1100" dirty="0"/>
          </a:p>
        </p:txBody>
      </p:sp>
      <p:sp>
        <p:nvSpPr>
          <p:cNvPr id="58" name="Shape 51"/>
          <p:cNvSpPr/>
          <p:nvPr/>
        </p:nvSpPr>
        <p:spPr>
          <a:xfrm>
            <a:off x="5319065" y="14538960"/>
            <a:ext cx="4480560" cy="65379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64748B">
                <a:alpha val="15000"/>
              </a:srgbClr>
            </a:outerShdw>
          </a:effectLst>
        </p:spPr>
      </p:sp>
      <p:sp>
        <p:nvSpPr>
          <p:cNvPr id="59" name="Shape 52"/>
          <p:cNvSpPr/>
          <p:nvPr/>
        </p:nvSpPr>
        <p:spPr>
          <a:xfrm>
            <a:off x="5364785" y="14538960"/>
            <a:ext cx="4389120" cy="73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5456225" y="1467612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5547665" y="14676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💻  CORE JAVA CODE SNIPPETS</a:t>
            </a:r>
            <a:endParaRPr lang="en-US" sz="1300" dirty="0"/>
          </a:p>
        </p:txBody>
      </p:sp>
      <p:sp>
        <p:nvSpPr>
          <p:cNvPr id="62" name="Text 55"/>
          <p:cNvSpPr/>
          <p:nvPr/>
        </p:nvSpPr>
        <p:spPr>
          <a:xfrm>
            <a:off x="5501945" y="151607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SNIPPET 1: Synchronized vs Unsynchronized Critical Section</a:t>
            </a:r>
            <a:endParaRPr lang="en-US" sz="1050" dirty="0"/>
          </a:p>
        </p:txBody>
      </p:sp>
      <p:sp>
        <p:nvSpPr>
          <p:cNvPr id="63" name="Shape 56"/>
          <p:cNvSpPr/>
          <p:nvPr/>
        </p:nvSpPr>
        <p:spPr>
          <a:xfrm>
            <a:off x="5501945" y="15435072"/>
            <a:ext cx="411480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5593385" y="1549908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SAFE: Mutual exclusion via intrinsic monitor lock
</a:t>
            </a:r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synchronized void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incrementSynchronized() {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current = count;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current + 1; </a:t>
            </a:r>
            <a:pPr indent="0" marL="0">
              <a:buNone/>
            </a:pPr>
            <a:r>
              <a:rPr lang="en-US" sz="900" i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Atomic under object monitor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900" i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UNSAFE: Unsynchronized (Race condition demo)
</a:t>
            </a:r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incrementUnsynchronized() {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current = count;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step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 Thread.sleep(0, 500); } catch (Exception e) {}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current + 1; </a:t>
            </a:r>
            <a:pPr indent="0" marL="0">
              <a:buNone/>
            </a:pPr>
            <a:r>
              <a:rPr lang="en-US" sz="900" i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Lost update occurs here!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65" name="Text 58"/>
          <p:cNvSpPr/>
          <p:nvPr/>
        </p:nvSpPr>
        <p:spPr>
          <a:xfrm>
            <a:off x="5501945" y="17967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SNIPPET 2: Event Dispatch Thread (EDT) Safety &amp; Safe Stop</a:t>
            </a:r>
            <a:endParaRPr lang="en-US" sz="1050" dirty="0"/>
          </a:p>
        </p:txBody>
      </p:sp>
      <p:sp>
        <p:nvSpPr>
          <p:cNvPr id="66" name="Shape 59"/>
          <p:cNvSpPr/>
          <p:nvPr/>
        </p:nvSpPr>
        <p:spPr>
          <a:xfrm>
            <a:off x="5501945" y="18242280"/>
            <a:ext cx="4114800" cy="2606040"/>
          </a:xfrm>
          <a:prstGeom prst="roundRect">
            <a:avLst>
              <a:gd name="adj" fmla="val 2807"/>
            </a:avLst>
          </a:prstGeom>
          <a:solidFill>
            <a:srgbClr val="0F172A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5593385" y="18306288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Cooperative thread cancellation without deprecated stop()
</a:t>
            </a:r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cancelWorker() {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this.running = false;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this.interrupt(); </a:t>
            </a:r>
            <a:pPr indent="0" marL="0">
              <a:buNone/>
            </a:pPr>
            <a:r>
              <a:rPr lang="en-US" sz="900" i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Wake thread from sleep/wait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Thread-safe Swing mutation via Event Dispatch Thread
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SwingUtilities.invokeLater(() -&gt; {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workerTableModel.setValueAt(done, rowIndex, 4);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lblSyncCounterVal.setText(String.valueOf(count));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progressBar.setValue(percentComplete);
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68" name="Shape 61"/>
          <p:cNvSpPr/>
          <p:nvPr/>
        </p:nvSpPr>
        <p:spPr>
          <a:xfrm>
            <a:off x="10272370" y="2286000"/>
            <a:ext cx="4480560" cy="58978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64748B">
                <a:alpha val="15000"/>
              </a:srgbClr>
            </a:outerShdw>
          </a:effectLst>
        </p:spPr>
      </p:sp>
      <p:sp>
        <p:nvSpPr>
          <p:cNvPr id="69" name="Shape 62"/>
          <p:cNvSpPr/>
          <p:nvPr/>
        </p:nvSpPr>
        <p:spPr>
          <a:xfrm>
            <a:off x="10318090" y="2286000"/>
            <a:ext cx="438912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10409530" y="242316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10500970" y="24231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🖥️  WORKING PROJECT IMPLEMENTATION</a:t>
            </a:r>
            <a:endParaRPr lang="en-US" sz="1300" dirty="0"/>
          </a:p>
        </p:txBody>
      </p:sp>
      <p:pic>
        <p:nvPicPr>
          <p:cNvPr id="72" name="Image 2" descr="C:\Users\Hp\OneDrive\Documents\java files\project_screensh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250" y="2907792"/>
            <a:ext cx="4114800" cy="3246120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10455250" y="6263640"/>
            <a:ext cx="411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Live Application Interface Highlights:
</a:t>
            </a:r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• Control Panel: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Real-time configuration of worker count (1-10), task allocation, and priority levels.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Worker Monitor Table: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Displays live thread ID, assigned priority, execution state, and animated progress bars.
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• Real-Time Counters: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Synchronized counter achieves exact 200/200; unsynchronized reveals 174/200 (lost updates).
</a:t>
            </a:r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• Timestamped Event Log: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Audits thread state lifecycle transitions with microsecond resolution for viva defense.</a:t>
            </a:r>
            <a:endParaRPr lang="en-US" sz="1100" dirty="0"/>
          </a:p>
        </p:txBody>
      </p:sp>
      <p:sp>
        <p:nvSpPr>
          <p:cNvPr id="74" name="Shape 66"/>
          <p:cNvSpPr/>
          <p:nvPr/>
        </p:nvSpPr>
        <p:spPr>
          <a:xfrm>
            <a:off x="10272370" y="8412480"/>
            <a:ext cx="4480560" cy="58978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64748B">
                <a:alpha val="15000"/>
              </a:srgbClr>
            </a:outerShdw>
          </a:effectLst>
        </p:spPr>
      </p:sp>
      <p:sp>
        <p:nvSpPr>
          <p:cNvPr id="75" name="Shape 67"/>
          <p:cNvSpPr/>
          <p:nvPr/>
        </p:nvSpPr>
        <p:spPr>
          <a:xfrm>
            <a:off x="10318090" y="8412480"/>
            <a:ext cx="438912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10409530" y="85496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69"/>
          <p:cNvSpPr/>
          <p:nvPr/>
        </p:nvSpPr>
        <p:spPr>
          <a:xfrm>
            <a:off x="10500970" y="8549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📊  RESULTS &amp; EXPERIMENTAL EVALUATION</a:t>
            </a:r>
            <a:endParaRPr lang="en-US" sz="13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55250" y="9034272"/>
          <a:ext cx="4114800" cy="2606040"/>
        </p:xfrm>
        <a:graphic>
          <a:graphicData uri="http://schemas.openxmlformats.org/drawingml/2006/table">
            <a:tbl>
              <a:tblPr/>
              <a:tblGrid>
                <a:gridCol w="1188720"/>
                <a:gridCol w="502920"/>
                <a:gridCol w="502920"/>
                <a:gridCol w="594360"/>
                <a:gridCol w="822960"/>
                <a:gridCol w="8686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Test Scenario</a:t>
                      </a:r>
                      <a:endParaRPr lang="en-US" sz="9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Workers</a:t>
                      </a:r>
                      <a:endParaRPr lang="en-US" sz="9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Tasks/Th</a:t>
                      </a:r>
                      <a:endParaRPr lang="en-US" sz="9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Expected</a:t>
                      </a:r>
                      <a:endParaRPr lang="en-US" sz="9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Sync Result</a:t>
                      </a:r>
                      <a:endParaRPr lang="en-US" sz="9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Unsync (Lost)</a:t>
                      </a:r>
                      <a:endParaRPr lang="en-US" sz="9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Light Load (2 Th)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50 (100% ✓)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48 (Lost 2)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Medium Load (4 Th)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200 (100% ✓)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174 (Lost 26!)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High Load (8 Th)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400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400 (100% ✓)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331 (Lost 69!)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Stress Test (10 Th)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1000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1000 (100% ✓)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782 (Lost 218)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Priority Benchmark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200</a:t>
                      </a:r>
                      <a:endParaRPr lang="en-US" sz="9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</a:rPr>
                        <a:t>Prio 10: 184ms</a:t>
                      </a:r>
                      <a:endParaRPr lang="en-US" sz="8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</a:rPr>
                        <a:t>Prio 1: 312ms*</a:t>
                      </a:r>
                      <a:endParaRPr lang="en-US" sz="85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Text 70"/>
          <p:cNvSpPr/>
          <p:nvPr/>
        </p:nvSpPr>
        <p:spPr>
          <a:xfrm>
            <a:off x="10455250" y="11750040"/>
            <a:ext cx="4114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Key Evaluation Findings &amp; Conclusions:
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• Absolute Correctness with synchronized: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Under all thread concurrency loads (up to 1,000 tasks), the synchronized counter never lost an increment, proving monitor mutual exclusion.
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• Concurrency Level Correlates with Data Loss: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 the unsynchronized path, data loss escalated from 4.0% at 2 threads up to 21.8% at 10 threads due to intensified read-modify-write overlap.
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• Non-Deterministic Priority Scheduling: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While Priority 10 workers completed faster on average, OS CPU timeslicing allowed Priority 1 threads to interleave, proving priority is purely a scheduling hint.</a:t>
            </a:r>
            <a:endParaRPr lang="en-US" sz="1100" dirty="0"/>
          </a:p>
        </p:txBody>
      </p:sp>
      <p:sp>
        <p:nvSpPr>
          <p:cNvPr id="80" name="Shape 71"/>
          <p:cNvSpPr/>
          <p:nvPr/>
        </p:nvSpPr>
        <p:spPr>
          <a:xfrm>
            <a:off x="10272370" y="14538960"/>
            <a:ext cx="4480560" cy="65379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5400000">
              <a:srgbClr val="64748B">
                <a:alpha val="15000"/>
              </a:srgbClr>
            </a:outerShdw>
          </a:effectLst>
        </p:spPr>
      </p:sp>
      <p:sp>
        <p:nvSpPr>
          <p:cNvPr id="81" name="Shape 72"/>
          <p:cNvSpPr/>
          <p:nvPr/>
        </p:nvSpPr>
        <p:spPr>
          <a:xfrm>
            <a:off x="10318090" y="14538960"/>
            <a:ext cx="43891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2" name="Shape 73"/>
          <p:cNvSpPr/>
          <p:nvPr/>
        </p:nvSpPr>
        <p:spPr>
          <a:xfrm>
            <a:off x="10409530" y="1467612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74"/>
          <p:cNvSpPr/>
          <p:nvPr/>
        </p:nvSpPr>
        <p:spPr>
          <a:xfrm>
            <a:off x="10500970" y="14676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📱  INTERACTIVE QR CODES: QUIZ &amp; DEMO VIDEO</a:t>
            </a:r>
            <a:endParaRPr lang="en-US" sz="1300" dirty="0"/>
          </a:p>
        </p:txBody>
      </p:sp>
      <p:sp>
        <p:nvSpPr>
          <p:cNvPr id="84" name="Shape 75"/>
          <p:cNvSpPr/>
          <p:nvPr/>
        </p:nvSpPr>
        <p:spPr>
          <a:xfrm>
            <a:off x="10455250" y="15160752"/>
            <a:ext cx="1988820" cy="5715000"/>
          </a:xfrm>
          <a:prstGeom prst="roundRect">
            <a:avLst>
              <a:gd name="adj" fmla="val 4598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5" name="Shape 76"/>
          <p:cNvSpPr/>
          <p:nvPr/>
        </p:nvSpPr>
        <p:spPr>
          <a:xfrm>
            <a:off x="10592410" y="15297912"/>
            <a:ext cx="1714500" cy="320040"/>
          </a:xfrm>
          <a:prstGeom prst="roundRect">
            <a:avLst>
              <a:gd name="adj" fmla="val 1714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6" name="Text 77"/>
          <p:cNvSpPr/>
          <p:nvPr/>
        </p:nvSpPr>
        <p:spPr>
          <a:xfrm>
            <a:off x="10592410" y="15297912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INTERACTIVE QUIZ</a:t>
            </a:r>
            <a:endParaRPr lang="en-US" sz="1050" dirty="0"/>
          </a:p>
        </p:txBody>
      </p:sp>
      <p:pic>
        <p:nvPicPr>
          <p:cNvPr id="87" name="Image 3" descr="C:\Users\Hp\OneDrive\Documents\java files\qr_quiz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282" y="15709392"/>
            <a:ext cx="1476756" cy="1476756"/>
          </a:xfrm>
          <a:prstGeom prst="rect">
            <a:avLst/>
          </a:prstGeom>
        </p:spPr>
      </p:pic>
      <p:sp>
        <p:nvSpPr>
          <p:cNvPr id="88" name="Text 78"/>
          <p:cNvSpPr/>
          <p:nvPr/>
        </p:nvSpPr>
        <p:spPr>
          <a:xfrm>
            <a:off x="10592410" y="17286732"/>
            <a:ext cx="17145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10-Question Viva Quiz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• Tests Thread Lifecycle
• Race Condition Mechanics
• Monitor Lock vs Atomic
• Real-Time Instant Score
• Full Explanations Included
</a:t>
            </a:r>
            <a:pPr indent="0" marL="0">
              <a:buNone/>
            </a:pPr>
            <a:r>
              <a:rPr lang="en-US" sz="850" i="1" dirty="0">
                <a:solidFill>
                  <a:srgbClr val="1D4ED8"/>
                </a:solidFill>
              </a:rPr>
              <a:t>Scan with mobile phone to test your concurrency knowledge live!</a:t>
            </a:r>
            <a:endParaRPr lang="en-US" sz="1100" dirty="0"/>
          </a:p>
        </p:txBody>
      </p:sp>
      <p:sp>
        <p:nvSpPr>
          <p:cNvPr id="89" name="Shape 79"/>
          <p:cNvSpPr/>
          <p:nvPr/>
        </p:nvSpPr>
        <p:spPr>
          <a:xfrm>
            <a:off x="12581230" y="15160752"/>
            <a:ext cx="1988820" cy="5715000"/>
          </a:xfrm>
          <a:prstGeom prst="roundRect">
            <a:avLst>
              <a:gd name="adj" fmla="val 4598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0" name="Shape 80"/>
          <p:cNvSpPr/>
          <p:nvPr/>
        </p:nvSpPr>
        <p:spPr>
          <a:xfrm>
            <a:off x="12718390" y="15297912"/>
            <a:ext cx="171450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1" name="Text 81"/>
          <p:cNvSpPr/>
          <p:nvPr/>
        </p:nvSpPr>
        <p:spPr>
          <a:xfrm>
            <a:off x="12718390" y="15297912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DEMO VIDEO (3 MIN)</a:t>
            </a:r>
            <a:endParaRPr lang="en-US" sz="1050" dirty="0"/>
          </a:p>
        </p:txBody>
      </p:sp>
      <p:pic>
        <p:nvPicPr>
          <p:cNvPr id="92" name="Image 4" descr="C:\Users\Hp\OneDrive\Documents\java files\qr_vide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7262" y="15709392"/>
            <a:ext cx="1476756" cy="1476756"/>
          </a:xfrm>
          <a:prstGeom prst="rect">
            <a:avLst/>
          </a:prstGeom>
        </p:spPr>
      </p:pic>
      <p:sp>
        <p:nvSpPr>
          <p:cNvPr id="93" name="Text 82"/>
          <p:cNvSpPr/>
          <p:nvPr/>
        </p:nvSpPr>
        <p:spPr>
          <a:xfrm>
            <a:off x="12718390" y="17286732"/>
            <a:ext cx="17145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Video Demonstration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• Live Simulation Demo
• Sync vs Unsync Side-by-Side
• Triggering Race Conditions
• Priority Tuning in Action
• Codebase Architecture Tour
</a:t>
            </a:r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</a:rPr>
              <a:t>Scan to watch 3-minute project demonstration and viva explanation!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2026-10-24T10:48:38Z</dcterms:created>
  <dcterms:modified xsi:type="dcterms:W3CDTF">2026-10-24T10:48:38Z</dcterms:modified>
</cp:coreProperties>
</file>